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7" r:id="rId6"/>
    <p:sldId id="268" r:id="rId7"/>
    <p:sldId id="269" r:id="rId8"/>
    <p:sldId id="270" r:id="rId9"/>
    <p:sldId id="271" r:id="rId10"/>
    <p:sldId id="279" r:id="rId11"/>
    <p:sldId id="289" r:id="rId12"/>
    <p:sldId id="272" r:id="rId13"/>
    <p:sldId id="273" r:id="rId14"/>
    <p:sldId id="286" r:id="rId15"/>
    <p:sldId id="283" r:id="rId16"/>
    <p:sldId id="285" r:id="rId17"/>
    <p:sldId id="287" r:id="rId18"/>
    <p:sldId id="288" r:id="rId19"/>
    <p:sldId id="27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5FFCEA-DA8E-4F19-A329-EFEC0320132A}" v="1" dt="2026-04-16T09:21:24.7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kumar kolli" userId="fd3dac78d918ae05" providerId="LiveId" clId="{26000817-8981-45BE-98B6-78093769269E}"/>
    <pc:docChg chg="modSld">
      <pc:chgData name="saikumar kolli" userId="fd3dac78d918ae05" providerId="LiveId" clId="{26000817-8981-45BE-98B6-78093769269E}" dt="2026-04-16T09:21:30.342" v="2" actId="2711"/>
      <pc:docMkLst>
        <pc:docMk/>
      </pc:docMkLst>
      <pc:sldChg chg="modSp mod">
        <pc:chgData name="saikumar kolli" userId="fd3dac78d918ae05" providerId="LiveId" clId="{26000817-8981-45BE-98B6-78093769269E}" dt="2026-04-16T09:21:30.342" v="2" actId="2711"/>
        <pc:sldMkLst>
          <pc:docMk/>
          <pc:sldMk cId="312851990" sldId="257"/>
        </pc:sldMkLst>
        <pc:spChg chg="mod">
          <ac:chgData name="saikumar kolli" userId="fd3dac78d918ae05" providerId="LiveId" clId="{26000817-8981-45BE-98B6-78093769269E}" dt="2026-04-16T09:21:30.342" v="2" actId="2711"/>
          <ac:spMkLst>
            <pc:docMk/>
            <pc:sldMk cId="312851990" sldId="257"/>
            <ac:spMk id="2" creationId="{8609769F-E01D-C7C2-2CE6-5E3351FABA8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36D65-BB44-D01C-10F5-7818002D25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E40E97-DF4C-D4C6-E2AF-914122908F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B849B-7B11-AC0C-6BF5-7AD16BDDD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66AE2-FEF7-4940-8BE9-79E2636F9CEB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F6D405-23B5-8621-4A72-02EDBE2F9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1797F-4358-4BF9-2410-2C7600542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A5F6D-E53D-485E-8ED4-C5E24D2D7B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396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A4E4B-0951-D5BD-D2A3-6E183737D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C503F-D794-BBA7-7F48-205518403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FB817-25A9-0EAA-A8E2-367C7917D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66AE2-FEF7-4940-8BE9-79E2636F9CEB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FF99E-F916-18DB-96C7-96A1D3064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D88B1-8899-B2F4-386A-40BB11B25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A5F6D-E53D-485E-8ED4-C5E24D2D7B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7708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886A7-8F41-C3EF-91FF-CA3F3AC2C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6DABB8-3934-6C6E-F4B0-F3326BFBD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4E777A-A281-6D66-D04E-97ECE94E4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66AE2-FEF7-4940-8BE9-79E2636F9CEB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A4849-B992-22AF-ECB3-AB96E9B1B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C0FFB-E626-CD81-7246-52DDE6996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A5F6D-E53D-485E-8ED4-C5E24D2D7B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5852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66DF4-88EB-1D83-ED1C-9F3E2344A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B7335-9D11-8089-14CD-DEFE1361D2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D50425-8CBF-FA2A-27FF-7DFF7E4974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2E9C2D-8679-CA5E-F471-E764552AF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66AE2-FEF7-4940-8BE9-79E2636F9CEB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F8F3AD-595E-9E11-38F9-06A2651E0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E6C2FB-A506-A5C2-FAE1-14ACEB6C7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A5F6D-E53D-485E-8ED4-C5E24D2D7B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8830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5A77D-2DFF-ED1A-26D1-89C329F87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6567A-2575-CFE1-97C9-0B9DCBD9C9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6C6A09-B266-4BFB-0C2F-959B5460CE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B7E4AB-1C41-96D5-09D6-746530C4B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78F945-1EDA-61E2-2BB8-8A7B99A014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105927-0A9C-7BA8-ADF9-5C693B5E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66AE2-FEF7-4940-8BE9-79E2636F9CEB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B1BCCA-A1E8-4960-03AE-B9576B0F1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1B1241-A27A-4E33-72C5-5E29E37CB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A5F6D-E53D-485E-8ED4-C5E24D2D7B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6728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C9264-2BB2-F772-847B-F8662EB1B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4B0A29-4C7A-F45C-F516-BE237C983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66AE2-FEF7-4940-8BE9-79E2636F9CEB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FE9D8D-6B49-E7CE-7442-46CB74A86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A5C1A2-AABE-B68E-6D35-E457719C3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A5F6D-E53D-485E-8ED4-C5E24D2D7B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0028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8B566C-E163-BC77-A81D-0D9251217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66AE2-FEF7-4940-8BE9-79E2636F9CEB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3E803D-C70C-7A9C-E83A-1E2865876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BD8813-C462-9CE3-29E5-B98015C99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A5F6D-E53D-485E-8ED4-C5E24D2D7B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7499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220D6-114C-C50C-FB6A-C06386F6A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4A4D0-E49F-49CE-3D72-30E513D64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13B5A0-6FDD-AEFF-1B56-2400DB6716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D817EB-9931-5290-C495-4625B5F7B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66AE2-FEF7-4940-8BE9-79E2636F9CEB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C29F75-60D7-FBA9-6A24-3AF8CFBBE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99DF74-224E-6533-95C3-F07E2B7BD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A5F6D-E53D-485E-8ED4-C5E24D2D7B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0569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0F12D-1129-7E87-AFBA-F2DAEE128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21A562-89CF-2E9E-C740-7215CFFC55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53BB18-FD5C-E776-21FE-68619EEA8B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92427-E160-1C2F-7419-98832CAAE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66AE2-FEF7-4940-8BE9-79E2636F9CEB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6482D6-78CB-1D5E-A8C1-66175C443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5AFF78-332D-1443-A339-5683C87E7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A5F6D-E53D-485E-8ED4-C5E24D2D7B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0542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3D202-3552-3751-F296-1C5CEDD09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D2B88B-BCDC-28CD-0BC1-D5BF1C5307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35B81-D46A-D30A-842D-03CA1D4FC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66AE2-FEF7-4940-8BE9-79E2636F9CEB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7142F-1370-052B-B01F-2DD34AFE4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25F35-3C96-5068-98AD-F82E8441E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A5F6D-E53D-485E-8ED4-C5E24D2D7B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2939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CB0F62-7FDD-805E-F493-2477843A10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CD2CA5-3032-F9E7-6505-003FD3F401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2CE68-0C42-BD49-ECEE-93DA829AC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66AE2-FEF7-4940-8BE9-79E2636F9CEB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8A681-B925-F81D-54FF-82A604BEC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7DAA7-56FC-28C4-8091-6CEC48BAD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A5F6D-E53D-485E-8ED4-C5E24D2D7B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3505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8606EA-3C53-F585-0026-01FA5408A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753C0B-5AD8-1425-5ADD-6F34A67EC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76DFA-9390-B1E0-6001-91277E3780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866AE2-FEF7-4940-8BE9-79E2636F9CEB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75959-89B5-FD24-6A9B-BCD2899221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DD559-E782-8923-D22C-C9C1C795AE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AA5F6D-E53D-485E-8ED4-C5E24D2D7B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3011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9769F-E01D-C7C2-2CE6-5E3351FABA87}"/>
              </a:ext>
            </a:extLst>
          </p:cNvPr>
          <p:cNvSpPr txBox="1">
            <a:spLocks/>
          </p:cNvSpPr>
          <p:nvPr/>
        </p:nvSpPr>
        <p:spPr>
          <a:xfrm>
            <a:off x="914399" y="1307855"/>
            <a:ext cx="10675923" cy="98399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Siamese Deep Learning Framework for Bi-Temporal Hyperspectral Image Change Detection</a:t>
            </a:r>
            <a:endParaRPr lang="en-US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F017D7-4A15-D648-7478-812CC0CD405E}"/>
              </a:ext>
            </a:extLst>
          </p:cNvPr>
          <p:cNvSpPr txBox="1">
            <a:spLocks/>
          </p:cNvSpPr>
          <p:nvPr/>
        </p:nvSpPr>
        <p:spPr>
          <a:xfrm>
            <a:off x="719122" y="3753427"/>
            <a:ext cx="10871201" cy="17526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cs typeface="AngsanaUPC" panose="02020603050405020304" pitchFamily="18" charset="-34"/>
              </a:rPr>
              <a:t>Presented by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7030A0"/>
                </a:solidFill>
                <a:cs typeface="AngsanaUPC" panose="02020603050405020304" pitchFamily="18" charset="-34"/>
              </a:rPr>
              <a:t>Sai Kumar Kolli(228W1A12A0)</a:t>
            </a:r>
            <a:endParaRPr lang="en-US" dirty="0">
              <a:cs typeface="AngsanaUPC" panose="02020603050405020304" pitchFamily="18" charset="-34"/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7030A0"/>
                </a:solidFill>
                <a:cs typeface="AngsanaUPC" panose="02020603050405020304" pitchFamily="18" charset="-34"/>
              </a:rPr>
              <a:t>Jaya Praveen Gali(228W1A1286)</a:t>
            </a:r>
          </a:p>
          <a:p>
            <a:pPr marL="0" indent="0" algn="ctr">
              <a:buNone/>
            </a:pPr>
            <a:endParaRPr lang="en-US" b="1" dirty="0">
              <a:solidFill>
                <a:srgbClr val="7030A0"/>
              </a:solidFill>
              <a:cs typeface="AngsanaUPC" panose="02020603050405020304" pitchFamily="18" charset="-34"/>
            </a:endParaRPr>
          </a:p>
          <a:p>
            <a:pPr marL="0" indent="0" algn="ctr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3B2DB5-6640-9311-D666-A386CC808B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029" y="308946"/>
            <a:ext cx="2133599" cy="866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Image result for vrsec">
            <a:extLst>
              <a:ext uri="{FF2B5EF4-FFF2-40B4-BE49-F238E27FC236}">
                <a16:creationId xmlns:a16="http://schemas.microsoft.com/office/drawing/2014/main" id="{9A5BCCDD-9CFA-5953-2BE1-FDFBFD35EF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1230" y="65888"/>
            <a:ext cx="1424763" cy="1241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389237-F663-1960-77B2-7FA9269B0F3E}"/>
              </a:ext>
            </a:extLst>
          </p:cNvPr>
          <p:cNvSpPr txBox="1"/>
          <p:nvPr/>
        </p:nvSpPr>
        <p:spPr>
          <a:xfrm>
            <a:off x="2563628" y="267371"/>
            <a:ext cx="7315200" cy="943523"/>
          </a:xfrm>
          <a:prstGeom prst="rect">
            <a:avLst/>
          </a:prstGeom>
          <a:noFill/>
        </p:spPr>
        <p:txBody>
          <a:bodyPr wrap="square" lIns="19998" tIns="9999" rIns="19998" bIns="9999" rtlCol="0">
            <a:spAutoFit/>
          </a:bodyPr>
          <a:lstStyle/>
          <a:p>
            <a:pPr algn="ctr"/>
            <a:r>
              <a:rPr lang="en-IN" sz="3000" b="1" dirty="0">
                <a:solidFill>
                  <a:srgbClr val="0000FF"/>
                </a:solidFill>
                <a:cs typeface="Times New Roman" pitchFamily="18" charset="0"/>
              </a:rPr>
              <a:t>Department of Information Technology</a:t>
            </a:r>
          </a:p>
          <a:p>
            <a:pPr algn="ctr"/>
            <a:r>
              <a:rPr lang="en-IN" sz="3000" b="1" dirty="0">
                <a:solidFill>
                  <a:srgbClr val="FF0000"/>
                </a:solidFill>
                <a:cs typeface="Times New Roman" pitchFamily="18" charset="0"/>
              </a:rPr>
              <a:t>V R Siddhartha Engineering College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09DE1B-FCE6-B8D3-543D-3052A1BD7F0A}"/>
              </a:ext>
            </a:extLst>
          </p:cNvPr>
          <p:cNvSpPr txBox="1"/>
          <p:nvPr/>
        </p:nvSpPr>
        <p:spPr>
          <a:xfrm>
            <a:off x="2649523" y="2822481"/>
            <a:ext cx="7010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B.Tech in Information Technology</a:t>
            </a:r>
          </a:p>
          <a:p>
            <a:pPr algn="ctr"/>
            <a:r>
              <a:rPr lang="en-US" sz="2000" b="1" dirty="0">
                <a:solidFill>
                  <a:srgbClr val="BF11A6"/>
                </a:solidFill>
              </a:rPr>
              <a:t>MAJOR Project Review Presentation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3023DE-8A52-B823-E0CC-62AE5F422FD5}"/>
              </a:ext>
            </a:extLst>
          </p:cNvPr>
          <p:cNvSpPr/>
          <p:nvPr/>
        </p:nvSpPr>
        <p:spPr>
          <a:xfrm>
            <a:off x="3173228" y="5638801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Dr.Vaddi Radhesyam,Sr.Asst.Professor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CFAF7B-F5F3-0A21-83F8-1EDD6C125AE9}"/>
              </a:ext>
            </a:extLst>
          </p:cNvPr>
          <p:cNvSpPr txBox="1"/>
          <p:nvPr/>
        </p:nvSpPr>
        <p:spPr>
          <a:xfrm>
            <a:off x="2563628" y="2395022"/>
            <a:ext cx="6783572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00" b="1" dirty="0">
                <a:solidFill>
                  <a:srgbClr val="00B050"/>
                </a:solidFill>
              </a:rPr>
              <a:t> Remote Sensing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A515C1CA-D310-ADFB-8719-E7B8BC3E8E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12D83BDF-1171-4B6E-B360-F8FAFB0EEC24}" type="datetime3">
              <a:rPr lang="en-US" smtClean="0"/>
              <a:pPr/>
              <a:t>16 April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851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2;p2">
            <a:extLst>
              <a:ext uri="{FF2B5EF4-FFF2-40B4-BE49-F238E27FC236}">
                <a16:creationId xmlns:a16="http://schemas.microsoft.com/office/drawing/2014/main" id="{D6631542-3C5F-16F1-C24F-21CDEB7284ED}"/>
              </a:ext>
            </a:extLst>
          </p:cNvPr>
          <p:cNvSpPr txBox="1">
            <a:spLocks/>
          </p:cNvSpPr>
          <p:nvPr/>
        </p:nvSpPr>
        <p:spPr>
          <a:xfrm>
            <a:off x="2038191" y="120153"/>
            <a:ext cx="7330836" cy="689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                      Agenda</a:t>
            </a:r>
            <a:endParaRPr lang="en-IN" dirty="0"/>
          </a:p>
        </p:txBody>
      </p:sp>
      <p:sp>
        <p:nvSpPr>
          <p:cNvPr id="3" name="Google Shape;93;p2">
            <a:extLst>
              <a:ext uri="{FF2B5EF4-FFF2-40B4-BE49-F238E27FC236}">
                <a16:creationId xmlns:a16="http://schemas.microsoft.com/office/drawing/2014/main" id="{0A78A71A-634E-40B7-6C01-F1113CC9AF04}"/>
              </a:ext>
            </a:extLst>
          </p:cNvPr>
          <p:cNvSpPr txBox="1"/>
          <p:nvPr/>
        </p:nvSpPr>
        <p:spPr>
          <a:xfrm>
            <a:off x="926098" y="898576"/>
            <a:ext cx="7472087" cy="5518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5725" rIns="0" bIns="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Introduction and Problem statement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Objectives and Outcomes of the Project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Literature Review and Summary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Methodology</a:t>
            </a:r>
            <a:endParaRPr lang="en-IN" sz="24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Datasets and Requirements</a:t>
            </a:r>
          </a:p>
          <a:p>
            <a:pPr marL="342900" indent="-3429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Algorithms used in the Project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Architecture/Project flow in </a:t>
            </a:r>
            <a:r>
              <a:rPr lang="en-IN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</a:t>
            </a:r>
            <a:r>
              <a:rPr lang="en-IN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iagram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Complete Results Obtained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References</a:t>
            </a:r>
            <a:endParaRPr sz="24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2700" marR="0" lvl="0" indent="0" algn="l" rtl="0">
              <a:spcBef>
                <a:spcPts val="575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60785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5;p4">
            <a:extLst>
              <a:ext uri="{FF2B5EF4-FFF2-40B4-BE49-F238E27FC236}">
                <a16:creationId xmlns:a16="http://schemas.microsoft.com/office/drawing/2014/main" id="{A3FF2D72-24E3-2D02-E326-A377E4E00C83}"/>
              </a:ext>
            </a:extLst>
          </p:cNvPr>
          <p:cNvSpPr txBox="1">
            <a:spLocks/>
          </p:cNvSpPr>
          <p:nvPr/>
        </p:nvSpPr>
        <p:spPr>
          <a:xfrm>
            <a:off x="2969259" y="0"/>
            <a:ext cx="609092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 sz="3600" b="1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lang="en-IN" sz="36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C34F672-993E-91AC-8568-3B6C012EE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202" y="833401"/>
            <a:ext cx="9797033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detecting changes in land surface features by analyzing bi-temporal hyperspectral images captured at different time periods.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Hyperspectral images contain rich spectral information across multiple wavelength bands, which helps in identifying subtle changes more accurately than conventional images.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framework uses preprocessing techniques such as ROI extraction, normalization, and noise removal to prepare the datasets for analysis.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Siamese deep learning model is used to extract spectral-spatial features from both temporal images and compare them to identify changed and unchanged regions.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generates change maps and evaluates performance using standard metrics, making it useful for applications such as environmental monitoring, urban planning, and land-use analysis. </a:t>
            </a:r>
          </a:p>
        </p:txBody>
      </p:sp>
    </p:spTree>
    <p:extLst>
      <p:ext uri="{BB962C8B-B14F-4D97-AF65-F5344CB8AC3E}">
        <p14:creationId xmlns:p14="http://schemas.microsoft.com/office/powerpoint/2010/main" val="2577167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5;p4">
            <a:extLst>
              <a:ext uri="{FF2B5EF4-FFF2-40B4-BE49-F238E27FC236}">
                <a16:creationId xmlns:a16="http://schemas.microsoft.com/office/drawing/2014/main" id="{97F7EC2C-A8CC-32D0-57EA-35D69757088D}"/>
              </a:ext>
            </a:extLst>
          </p:cNvPr>
          <p:cNvSpPr txBox="1">
            <a:spLocks/>
          </p:cNvSpPr>
          <p:nvPr/>
        </p:nvSpPr>
        <p:spPr>
          <a:xfrm>
            <a:off x="2918460" y="0"/>
            <a:ext cx="6090920" cy="1057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 sz="3600" b="1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lang="en-IN" sz="36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2FA23B1-5CFF-4510-ACD6-43AE69864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594" y="857080"/>
            <a:ext cx="10353368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Detecting changes in hyperspectral images acquired at different time periods is a challenging task due to the high dimensionality and complexity of spectral data.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Variations in spectral signatures and spatial patterns over time make it difficult to distinguish actual changes from normal scene differences.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Hyperspectral images are often affected by noise, atmospheric conditions, and data inconsistencies, which can reduce the accuracy of change detection.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Processing large bi-temporal hyperspectral datasets requires high computational effort and efficient analysis methods for timely results.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one of the most effective deep learning models, the Siamese network, can be used to learn spectral-spatial variations and generate accurate change detection maps.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5824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5;p4">
            <a:extLst>
              <a:ext uri="{FF2B5EF4-FFF2-40B4-BE49-F238E27FC236}">
                <a16:creationId xmlns:a16="http://schemas.microsoft.com/office/drawing/2014/main" id="{C09D9725-15E0-E646-8D34-059BC51817D9}"/>
              </a:ext>
            </a:extLst>
          </p:cNvPr>
          <p:cNvSpPr txBox="1">
            <a:spLocks/>
          </p:cNvSpPr>
          <p:nvPr/>
        </p:nvSpPr>
        <p:spPr>
          <a:xfrm>
            <a:off x="279400" y="196211"/>
            <a:ext cx="2473960" cy="376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 sz="2500" b="1">
                <a:latin typeface="Times New Roman"/>
                <a:ea typeface="Times New Roman"/>
                <a:cs typeface="Times New Roman"/>
                <a:sym typeface="Times New Roman"/>
              </a:rPr>
              <a:t>OBJECTIVES:</a:t>
            </a:r>
            <a:endParaRPr lang="en-IN" sz="25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05;p4">
            <a:extLst>
              <a:ext uri="{FF2B5EF4-FFF2-40B4-BE49-F238E27FC236}">
                <a16:creationId xmlns:a16="http://schemas.microsoft.com/office/drawing/2014/main" id="{014B98EC-FCBD-B17F-020A-3C5878C079E0}"/>
              </a:ext>
            </a:extLst>
          </p:cNvPr>
          <p:cNvSpPr txBox="1">
            <a:spLocks/>
          </p:cNvSpPr>
          <p:nvPr/>
        </p:nvSpPr>
        <p:spPr>
          <a:xfrm>
            <a:off x="279400" y="3615957"/>
            <a:ext cx="2473960" cy="376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400"/>
              <a:buFont typeface="Times New Roman"/>
              <a:buNone/>
            </a:pPr>
            <a:r>
              <a:rPr lang="en-IN" sz="3000" b="1" dirty="0">
                <a:latin typeface="Times New Roman"/>
                <a:ea typeface="Times New Roman"/>
                <a:cs typeface="Times New Roman"/>
                <a:sym typeface="Times New Roman"/>
              </a:rPr>
              <a:t>OUTCOMES: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D17CF5B-88D6-14AC-E6CE-D174183E07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361" y="540193"/>
            <a:ext cx="10359104" cy="2985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Siamese deep learning framework for detecting changes in bi-temporal hyperspectral images.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extract spectral-spatial features from temporal datasets for accurate change analysis.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reliable change maps and evaluate performance using standard metrics.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AEE377-EF99-7E7F-F041-B74100740C96}"/>
              </a:ext>
            </a:extLst>
          </p:cNvPr>
          <p:cNvSpPr txBox="1"/>
          <p:nvPr/>
        </p:nvSpPr>
        <p:spPr>
          <a:xfrm>
            <a:off x="633361" y="3921939"/>
            <a:ext cx="1035910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detection of changed and unchanged regions from hyperspectral images.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 of accurate change probability and binary change maps.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accuracy and consistency in identifying temporal changes across hyperspectral datasets.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805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40;p20">
            <a:extLst>
              <a:ext uri="{FF2B5EF4-FFF2-40B4-BE49-F238E27FC236}">
                <a16:creationId xmlns:a16="http://schemas.microsoft.com/office/drawing/2014/main" id="{D7A1FA6E-5C3E-AB80-DC9F-02493933FB5A}"/>
              </a:ext>
            </a:extLst>
          </p:cNvPr>
          <p:cNvSpPr txBox="1"/>
          <p:nvPr/>
        </p:nvSpPr>
        <p:spPr>
          <a:xfrm>
            <a:off x="4039325" y="91845"/>
            <a:ext cx="360977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Summary</a:t>
            </a:r>
            <a:endParaRPr sz="3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523309C-7626-C8CC-86D7-78CFBD54B4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5984583"/>
              </p:ext>
            </p:extLst>
          </p:nvPr>
        </p:nvGraphicFramePr>
        <p:xfrm>
          <a:off x="717018" y="1804603"/>
          <a:ext cx="10972801" cy="1846625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704676">
                  <a:extLst>
                    <a:ext uri="{9D8B030D-6E8A-4147-A177-3AD203B41FA5}">
                      <a16:colId xmlns:a16="http://schemas.microsoft.com/office/drawing/2014/main" val="814458352"/>
                    </a:ext>
                  </a:extLst>
                </a:gridCol>
                <a:gridCol w="2558082">
                  <a:extLst>
                    <a:ext uri="{9D8B030D-6E8A-4147-A177-3AD203B41FA5}">
                      <a16:colId xmlns:a16="http://schemas.microsoft.com/office/drawing/2014/main" val="3180747787"/>
                    </a:ext>
                  </a:extLst>
                </a:gridCol>
                <a:gridCol w="2036847">
                  <a:extLst>
                    <a:ext uri="{9D8B030D-6E8A-4147-A177-3AD203B41FA5}">
                      <a16:colId xmlns:a16="http://schemas.microsoft.com/office/drawing/2014/main" val="665178677"/>
                    </a:ext>
                  </a:extLst>
                </a:gridCol>
                <a:gridCol w="1530152">
                  <a:extLst>
                    <a:ext uri="{9D8B030D-6E8A-4147-A177-3AD203B41FA5}">
                      <a16:colId xmlns:a16="http://schemas.microsoft.com/office/drawing/2014/main" val="2276659115"/>
                    </a:ext>
                  </a:extLst>
                </a:gridCol>
                <a:gridCol w="1901505">
                  <a:extLst>
                    <a:ext uri="{9D8B030D-6E8A-4147-A177-3AD203B41FA5}">
                      <a16:colId xmlns:a16="http://schemas.microsoft.com/office/drawing/2014/main" val="613287533"/>
                    </a:ext>
                  </a:extLst>
                </a:gridCol>
                <a:gridCol w="2241539">
                  <a:extLst>
                    <a:ext uri="{9D8B030D-6E8A-4147-A177-3AD203B41FA5}">
                      <a16:colId xmlns:a16="http://schemas.microsoft.com/office/drawing/2014/main" val="1037501185"/>
                    </a:ext>
                  </a:extLst>
                </a:gridCol>
              </a:tblGrid>
              <a:tr h="584563">
                <a:tc>
                  <a:txBody>
                    <a:bodyPr/>
                    <a:lstStyle/>
                    <a:p>
                      <a:pPr marL="0" marR="81915" indent="0" algn="ctr">
                        <a:lnSpc>
                          <a:spcPct val="107000"/>
                        </a:lnSpc>
                        <a:spcAft>
                          <a:spcPts val="45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Sno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81915" indent="0" algn="ctr">
                        <a:lnSpc>
                          <a:spcPct val="107000"/>
                        </a:lnSpc>
                        <a:spcAft>
                          <a:spcPts val="45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Title and Publication Details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81915" indent="0" algn="ctr">
                        <a:lnSpc>
                          <a:spcPct val="107000"/>
                        </a:lnSpc>
                        <a:spcAft>
                          <a:spcPts val="45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Algorithms or Technologies Used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81915" indent="0" algn="ctr">
                        <a:lnSpc>
                          <a:spcPct val="107000"/>
                        </a:lnSpc>
                        <a:spcAft>
                          <a:spcPts val="45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Dataset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81915" indent="0" algn="ctr">
                        <a:lnSpc>
                          <a:spcPct val="107000"/>
                        </a:lnSpc>
                        <a:spcAft>
                          <a:spcPts val="45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Purpose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81915" indent="0" algn="ctr">
                        <a:lnSpc>
                          <a:spcPct val="107000"/>
                        </a:lnSpc>
                        <a:spcAft>
                          <a:spcPts val="45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Remarks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14875189"/>
                  </a:ext>
                </a:extLst>
              </a:tr>
              <a:tr h="1262062">
                <a:tc>
                  <a:txBody>
                    <a:bodyPr/>
                    <a:lstStyle/>
                    <a:p>
                      <a:pPr marL="0" marR="81915" indent="0">
                        <a:lnSpc>
                          <a:spcPct val="107000"/>
                        </a:lnSpc>
                        <a:spcAft>
                          <a:spcPts val="450"/>
                        </a:spcAft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81915" indent="0">
                        <a:lnSpc>
                          <a:spcPct val="107000"/>
                        </a:lnSpc>
                        <a:spcAft>
                          <a:spcPts val="45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Dual Learning-Based Siamese Framework for Change Detection Using Bi-Temporal VHR Optical Remote Sensing Images (Bo Fang et al., 2019)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81915" indent="0">
                        <a:lnSpc>
                          <a:spcPct val="107000"/>
                        </a:lnSpc>
                        <a:spcAft>
                          <a:spcPts val="45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Dual Learning Framework, Siamese CNN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81915" indent="0">
                        <a:lnSpc>
                          <a:spcPct val="107000"/>
                        </a:lnSpc>
                        <a:spcAft>
                          <a:spcPts val="45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VHR Optical RS Images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81915" indent="0">
                        <a:lnSpc>
                          <a:spcPct val="107000"/>
                        </a:lnSpc>
                        <a:spcAft>
                          <a:spcPts val="45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Detect changes in bi-temporal images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81915" indent="0">
                        <a:lnSpc>
                          <a:spcPct val="107000"/>
                        </a:lnSpc>
                        <a:spcAft>
                          <a:spcPts val="45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Change detection performance enhanced; computationally intensive and requires labeled data.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2552976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5B56C10-A4AD-80EB-2B89-4F3680488B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3514497"/>
              </p:ext>
            </p:extLst>
          </p:nvPr>
        </p:nvGraphicFramePr>
        <p:xfrm>
          <a:off x="717017" y="3651228"/>
          <a:ext cx="10972801" cy="1502155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704675">
                  <a:extLst>
                    <a:ext uri="{9D8B030D-6E8A-4147-A177-3AD203B41FA5}">
                      <a16:colId xmlns:a16="http://schemas.microsoft.com/office/drawing/2014/main" val="3840078120"/>
                    </a:ext>
                  </a:extLst>
                </a:gridCol>
                <a:gridCol w="2558083">
                  <a:extLst>
                    <a:ext uri="{9D8B030D-6E8A-4147-A177-3AD203B41FA5}">
                      <a16:colId xmlns:a16="http://schemas.microsoft.com/office/drawing/2014/main" val="3974715030"/>
                    </a:ext>
                  </a:extLst>
                </a:gridCol>
                <a:gridCol w="2036847">
                  <a:extLst>
                    <a:ext uri="{9D8B030D-6E8A-4147-A177-3AD203B41FA5}">
                      <a16:colId xmlns:a16="http://schemas.microsoft.com/office/drawing/2014/main" val="2768538761"/>
                    </a:ext>
                  </a:extLst>
                </a:gridCol>
                <a:gridCol w="1530152">
                  <a:extLst>
                    <a:ext uri="{9D8B030D-6E8A-4147-A177-3AD203B41FA5}">
                      <a16:colId xmlns:a16="http://schemas.microsoft.com/office/drawing/2014/main" val="2916772424"/>
                    </a:ext>
                  </a:extLst>
                </a:gridCol>
                <a:gridCol w="1901505">
                  <a:extLst>
                    <a:ext uri="{9D8B030D-6E8A-4147-A177-3AD203B41FA5}">
                      <a16:colId xmlns:a16="http://schemas.microsoft.com/office/drawing/2014/main" val="2650916990"/>
                    </a:ext>
                  </a:extLst>
                </a:gridCol>
                <a:gridCol w="2241539">
                  <a:extLst>
                    <a:ext uri="{9D8B030D-6E8A-4147-A177-3AD203B41FA5}">
                      <a16:colId xmlns:a16="http://schemas.microsoft.com/office/drawing/2014/main" val="1754892135"/>
                    </a:ext>
                  </a:extLst>
                </a:gridCol>
              </a:tblGrid>
              <a:tr h="1502155">
                <a:tc>
                  <a:txBody>
                    <a:bodyPr/>
                    <a:lstStyle/>
                    <a:p>
                      <a:pPr marL="0" marR="81915" indent="0">
                        <a:lnSpc>
                          <a:spcPct val="107000"/>
                        </a:lnSpc>
                        <a:spcAft>
                          <a:spcPts val="45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81915" indent="0">
                        <a:lnSpc>
                          <a:spcPct val="107000"/>
                        </a:lnSpc>
                        <a:spcAft>
                          <a:spcPts val="45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Land-Use/Land-Cover Change Detection Based on a Siamese Global Learning Framework (</a:t>
                      </a:r>
                      <a:r>
                        <a:rPr lang="en-US" sz="1100" dirty="0" err="1">
                          <a:solidFill>
                            <a:schemeClr val="tx1"/>
                          </a:solidFill>
                          <a:effectLst/>
                        </a:rPr>
                        <a:t>Qiqi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 Zhu et al., 2022)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81915" indent="0">
                        <a:lnSpc>
                          <a:spcPct val="107000"/>
                        </a:lnSpc>
                        <a:spcAft>
                          <a:spcPts val="45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Siamese Encoder–Decoder, Global Hierarchical Sampling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81915" indent="0">
                        <a:lnSpc>
                          <a:spcPct val="107000"/>
                        </a:lnSpc>
                        <a:spcAft>
                          <a:spcPts val="450"/>
                        </a:spcAft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High Spatial Resolution RS Images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81915" indent="0">
                        <a:lnSpc>
                          <a:spcPct val="107000"/>
                        </a:lnSpc>
                        <a:spcAft>
                          <a:spcPts val="45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Semantic change detection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81915" indent="0">
                        <a:lnSpc>
                          <a:spcPct val="107000"/>
                        </a:lnSpc>
                        <a:spcAft>
                          <a:spcPts val="45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Can manage class imbalances effectively; however, computationally intensive.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52397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3026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E94546F-C9EA-A123-07C1-8AD2299A4F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889881"/>
              </p:ext>
            </p:extLst>
          </p:nvPr>
        </p:nvGraphicFramePr>
        <p:xfrm>
          <a:off x="832104" y="1207009"/>
          <a:ext cx="10524744" cy="4779836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493776">
                  <a:extLst>
                    <a:ext uri="{9D8B030D-6E8A-4147-A177-3AD203B41FA5}">
                      <a16:colId xmlns:a16="http://schemas.microsoft.com/office/drawing/2014/main" val="2746372735"/>
                    </a:ext>
                  </a:extLst>
                </a:gridCol>
                <a:gridCol w="2635753">
                  <a:extLst>
                    <a:ext uri="{9D8B030D-6E8A-4147-A177-3AD203B41FA5}">
                      <a16:colId xmlns:a16="http://schemas.microsoft.com/office/drawing/2014/main" val="173694547"/>
                    </a:ext>
                  </a:extLst>
                </a:gridCol>
                <a:gridCol w="1953675">
                  <a:extLst>
                    <a:ext uri="{9D8B030D-6E8A-4147-A177-3AD203B41FA5}">
                      <a16:colId xmlns:a16="http://schemas.microsoft.com/office/drawing/2014/main" val="1744620800"/>
                    </a:ext>
                  </a:extLst>
                </a:gridCol>
                <a:gridCol w="1467671">
                  <a:extLst>
                    <a:ext uri="{9D8B030D-6E8A-4147-A177-3AD203B41FA5}">
                      <a16:colId xmlns:a16="http://schemas.microsoft.com/office/drawing/2014/main" val="2449307202"/>
                    </a:ext>
                  </a:extLst>
                </a:gridCol>
                <a:gridCol w="1823860">
                  <a:extLst>
                    <a:ext uri="{9D8B030D-6E8A-4147-A177-3AD203B41FA5}">
                      <a16:colId xmlns:a16="http://schemas.microsoft.com/office/drawing/2014/main" val="3758594101"/>
                    </a:ext>
                  </a:extLst>
                </a:gridCol>
                <a:gridCol w="2150009">
                  <a:extLst>
                    <a:ext uri="{9D8B030D-6E8A-4147-A177-3AD203B41FA5}">
                      <a16:colId xmlns:a16="http://schemas.microsoft.com/office/drawing/2014/main" val="3575553246"/>
                    </a:ext>
                  </a:extLst>
                </a:gridCol>
              </a:tblGrid>
              <a:tr h="2531320">
                <a:tc>
                  <a:txBody>
                    <a:bodyPr/>
                    <a:lstStyle/>
                    <a:p>
                      <a:pPr marL="0" marR="81915" indent="0">
                        <a:lnSpc>
                          <a:spcPct val="107000"/>
                        </a:lnSpc>
                        <a:spcAft>
                          <a:spcPts val="450"/>
                        </a:spcAft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81915" indent="0">
                        <a:lnSpc>
                          <a:spcPct val="107000"/>
                        </a:lnSpc>
                        <a:spcAft>
                          <a:spcPts val="450"/>
                        </a:spcAft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A Multi-Dimensional Deep Siamese Network for Land Cover Change Detection in Bi-Temporal Hyperspectral Imagery (Seydi et al., 2022)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81915" indent="0">
                        <a:lnSpc>
                          <a:spcPct val="107000"/>
                        </a:lnSpc>
                        <a:spcAft>
                          <a:spcPts val="450"/>
                        </a:spcAft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Multi-Dimensional Siamese CNN, DTW, Otsu Thresholding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81915" indent="0">
                        <a:lnSpc>
                          <a:spcPct val="107000"/>
                        </a:lnSpc>
                        <a:spcAft>
                          <a:spcPts val="450"/>
                        </a:spcAft>
                        <a:buNone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</a:rPr>
                        <a:t>Hyperion Hyperspectral (Farmland-1, Farmland-2)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81915" indent="0">
                        <a:lnSpc>
                          <a:spcPct val="107000"/>
                        </a:lnSpc>
                        <a:spcAft>
                          <a:spcPts val="450"/>
                        </a:spcAft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Hyperspectral change detection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81915" indent="0">
                        <a:lnSpc>
                          <a:spcPct val="107000"/>
                        </a:lnSpc>
                        <a:spcAft>
                          <a:spcPts val="450"/>
                        </a:spcAft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Excellent OA and few false alarms; however, susceptible to noise and atmospheric interference.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39482022"/>
                  </a:ext>
                </a:extLst>
              </a:tr>
              <a:tr h="2248516">
                <a:tc>
                  <a:txBody>
                    <a:bodyPr/>
                    <a:lstStyle/>
                    <a:p>
                      <a:pPr marL="0" marR="81915" indent="0">
                        <a:lnSpc>
                          <a:spcPct val="107000"/>
                        </a:lnSpc>
                        <a:spcAft>
                          <a:spcPts val="450"/>
                        </a:spcAft>
                        <a:buNone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81915" indent="0">
                        <a:lnSpc>
                          <a:spcPct val="107000"/>
                        </a:lnSpc>
                        <a:spcAft>
                          <a:spcPts val="450"/>
                        </a:spcAft>
                        <a:buNone/>
                      </a:pPr>
                      <a:r>
                        <a:rPr lang="en-US" sz="1100" b="0" dirty="0" err="1">
                          <a:solidFill>
                            <a:schemeClr val="tx1"/>
                          </a:solidFill>
                          <a:effectLst/>
                        </a:rPr>
                        <a:t>RSCDNet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: A Robust Deep Learning Architecture for Change Detection From Bi-Temporal High Resolution RS Images (Deepanshi et al., 2023)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81915" indent="0">
                        <a:lnSpc>
                          <a:spcPct val="107000"/>
                        </a:lnSpc>
                        <a:spcAft>
                          <a:spcPts val="450"/>
                        </a:spcAft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Encoder–Decoder, Self-Attention, GL-ASPP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81915" indent="0">
                        <a:lnSpc>
                          <a:spcPct val="107000"/>
                        </a:lnSpc>
                        <a:spcAft>
                          <a:spcPts val="450"/>
                        </a:spcAft>
                        <a:buNone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</a:rPr>
                        <a:t>Staza-Tisadob, Onera, LEVIR, WHU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81915" indent="0">
                        <a:lnSpc>
                          <a:spcPct val="107000"/>
                        </a:lnSpc>
                        <a:spcAft>
                          <a:spcPts val="450"/>
                        </a:spcAft>
                        <a:buNone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</a:rPr>
                        <a:t>Pixel-wise change detection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81915" indent="0">
                        <a:lnSpc>
                          <a:spcPct val="107000"/>
                        </a:lnSpc>
                        <a:spcAft>
                          <a:spcPts val="450"/>
                        </a:spcAft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F1-score is high; localization is effective; however, large amount of training data needed.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4695604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ED69E3D-FC9B-BCE2-A262-98E519AC50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1636350"/>
              </p:ext>
            </p:extLst>
          </p:nvPr>
        </p:nvGraphicFramePr>
        <p:xfrm>
          <a:off x="679703" y="1207009"/>
          <a:ext cx="10972801" cy="5845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04676">
                  <a:extLst>
                    <a:ext uri="{9D8B030D-6E8A-4147-A177-3AD203B41FA5}">
                      <a16:colId xmlns:a16="http://schemas.microsoft.com/office/drawing/2014/main" val="2697125926"/>
                    </a:ext>
                  </a:extLst>
                </a:gridCol>
                <a:gridCol w="2558082">
                  <a:extLst>
                    <a:ext uri="{9D8B030D-6E8A-4147-A177-3AD203B41FA5}">
                      <a16:colId xmlns:a16="http://schemas.microsoft.com/office/drawing/2014/main" val="1293267724"/>
                    </a:ext>
                  </a:extLst>
                </a:gridCol>
                <a:gridCol w="2036847">
                  <a:extLst>
                    <a:ext uri="{9D8B030D-6E8A-4147-A177-3AD203B41FA5}">
                      <a16:colId xmlns:a16="http://schemas.microsoft.com/office/drawing/2014/main" val="2851938749"/>
                    </a:ext>
                  </a:extLst>
                </a:gridCol>
                <a:gridCol w="1530152">
                  <a:extLst>
                    <a:ext uri="{9D8B030D-6E8A-4147-A177-3AD203B41FA5}">
                      <a16:colId xmlns:a16="http://schemas.microsoft.com/office/drawing/2014/main" val="3848931364"/>
                    </a:ext>
                  </a:extLst>
                </a:gridCol>
                <a:gridCol w="1901505">
                  <a:extLst>
                    <a:ext uri="{9D8B030D-6E8A-4147-A177-3AD203B41FA5}">
                      <a16:colId xmlns:a16="http://schemas.microsoft.com/office/drawing/2014/main" val="594839978"/>
                    </a:ext>
                  </a:extLst>
                </a:gridCol>
                <a:gridCol w="2241539">
                  <a:extLst>
                    <a:ext uri="{9D8B030D-6E8A-4147-A177-3AD203B41FA5}">
                      <a16:colId xmlns:a16="http://schemas.microsoft.com/office/drawing/2014/main" val="3939844204"/>
                    </a:ext>
                  </a:extLst>
                </a:gridCol>
              </a:tblGrid>
              <a:tr h="584563">
                <a:tc>
                  <a:txBody>
                    <a:bodyPr/>
                    <a:lstStyle/>
                    <a:p>
                      <a:pPr marL="0" marR="81915" indent="0" algn="ctr">
                        <a:lnSpc>
                          <a:spcPct val="107000"/>
                        </a:lnSpc>
                        <a:spcAft>
                          <a:spcPts val="45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Sno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81915" indent="0" algn="ctr">
                        <a:lnSpc>
                          <a:spcPct val="107000"/>
                        </a:lnSpc>
                        <a:spcAft>
                          <a:spcPts val="45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Title and Publication Details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81915" indent="0" algn="ctr">
                        <a:lnSpc>
                          <a:spcPct val="107000"/>
                        </a:lnSpc>
                        <a:spcAft>
                          <a:spcPts val="45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Algorithms or Technologies Used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81915" indent="0" algn="ctr">
                        <a:lnSpc>
                          <a:spcPct val="107000"/>
                        </a:lnSpc>
                        <a:spcAft>
                          <a:spcPts val="45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Dataset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81915" indent="0" algn="ctr">
                        <a:lnSpc>
                          <a:spcPct val="107000"/>
                        </a:lnSpc>
                        <a:spcAft>
                          <a:spcPts val="45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Purpose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81915" indent="0" algn="ctr">
                        <a:lnSpc>
                          <a:spcPct val="107000"/>
                        </a:lnSpc>
                        <a:spcAft>
                          <a:spcPts val="45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Remarks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98556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5879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2;p19">
            <a:extLst>
              <a:ext uri="{FF2B5EF4-FFF2-40B4-BE49-F238E27FC236}">
                <a16:creationId xmlns:a16="http://schemas.microsoft.com/office/drawing/2014/main" id="{6E87855A-4A6C-8DEB-DAC8-512808419132}"/>
              </a:ext>
            </a:extLst>
          </p:cNvPr>
          <p:cNvSpPr txBox="1"/>
          <p:nvPr/>
        </p:nvSpPr>
        <p:spPr>
          <a:xfrm>
            <a:off x="419450" y="343949"/>
            <a:ext cx="468538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Datasets and Requirements</a:t>
            </a:r>
            <a:endParaRPr/>
          </a:p>
        </p:txBody>
      </p:sp>
      <p:sp>
        <p:nvSpPr>
          <p:cNvPr id="3" name="Google Shape;134;p19">
            <a:extLst>
              <a:ext uri="{FF2B5EF4-FFF2-40B4-BE49-F238E27FC236}">
                <a16:creationId xmlns:a16="http://schemas.microsoft.com/office/drawing/2014/main" id="{E16D2B31-B251-65FC-E2BC-0A68A7B6EC39}"/>
              </a:ext>
            </a:extLst>
          </p:cNvPr>
          <p:cNvSpPr txBox="1"/>
          <p:nvPr/>
        </p:nvSpPr>
        <p:spPr>
          <a:xfrm>
            <a:off x="503710" y="1119039"/>
            <a:ext cx="10588105" cy="2215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Requirements:</a:t>
            </a:r>
            <a:endParaRPr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buClr>
                <a:schemeClr val="dk1"/>
              </a:buClr>
              <a:buSzPts val="2200"/>
            </a:pPr>
            <a:r>
              <a:rPr lang="en-IN" sz="2200" dirty="0">
                <a:solidFill>
                  <a:schemeClr val="dk1"/>
                </a:solidFill>
                <a:latin typeface="Times New Roman"/>
                <a:cs typeface="Times New Roman"/>
              </a:rPr>
              <a:t>Bitemporal Hyperspectral Data : </a:t>
            </a:r>
            <a:endParaRPr lang="en-US" sz="2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2015 Hyperspectral Image: 5614 × 707 spatial size, 372 spectral bands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2018 Hyperspectral Image: 5614 × 707 spatial size, 372 spectral bands </a:t>
            </a:r>
          </a:p>
          <a:p>
            <a:pPr marL="342900" indent="-342900" algn="just"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Format: ENVI (.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hdr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sz="2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135;p19">
            <a:extLst>
              <a:ext uri="{FF2B5EF4-FFF2-40B4-BE49-F238E27FC236}">
                <a16:creationId xmlns:a16="http://schemas.microsoft.com/office/drawing/2014/main" id="{B493156A-E2BB-9457-108F-02F7BCFDDD90}"/>
              </a:ext>
            </a:extLst>
          </p:cNvPr>
          <p:cNvSpPr txBox="1"/>
          <p:nvPr/>
        </p:nvSpPr>
        <p:spPr>
          <a:xfrm>
            <a:off x="503710" y="3242657"/>
            <a:ext cx="10588105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Python programming language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Kaggle environment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NumPy for numerical computations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Matplotlib for visualization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Scikit-learn for preprocessing and evaluation metrics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err="1">
                <a:latin typeface="Arial" panose="020B0604020202020204" pitchFamily="34" charset="0"/>
              </a:rPr>
              <a:t>PyTorch</a:t>
            </a:r>
            <a:r>
              <a:rPr lang="en-US" altLang="en-US" sz="2400" dirty="0">
                <a:latin typeface="Arial" panose="020B0604020202020204" pitchFamily="34" charset="0"/>
              </a:rPr>
              <a:t> for Siamese deep learning model implementation </a:t>
            </a:r>
          </a:p>
        </p:txBody>
      </p:sp>
    </p:spTree>
    <p:extLst>
      <p:ext uri="{BB962C8B-B14F-4D97-AF65-F5344CB8AC3E}">
        <p14:creationId xmlns:p14="http://schemas.microsoft.com/office/powerpoint/2010/main" val="3437846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9;p23">
            <a:extLst>
              <a:ext uri="{FF2B5EF4-FFF2-40B4-BE49-F238E27FC236}">
                <a16:creationId xmlns:a16="http://schemas.microsoft.com/office/drawing/2014/main" id="{CFAEC421-23B2-BF4E-02D8-8BC7E1F0096A}"/>
              </a:ext>
            </a:extLst>
          </p:cNvPr>
          <p:cNvSpPr txBox="1"/>
          <p:nvPr/>
        </p:nvSpPr>
        <p:spPr>
          <a:xfrm>
            <a:off x="306660" y="0"/>
            <a:ext cx="295144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Algorithms Used</a:t>
            </a:r>
            <a:endParaRPr sz="3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F0E83B-5542-718D-D014-98A2B9C0696C}"/>
                  </a:ext>
                </a:extLst>
              </p:cNvPr>
              <p:cNvSpPr txBox="1"/>
              <p:nvPr/>
            </p:nvSpPr>
            <p:spPr>
              <a:xfrm>
                <a:off x="640080" y="1051408"/>
                <a:ext cx="11091672" cy="50897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/>
                  <a:t>Data Preprocessing Algorithm</a:t>
                </a:r>
              </a:p>
              <a:p>
                <a:pPr>
                  <a:buNone/>
                </a:pPr>
                <a:endParaRPr lang="en-US" b="1" dirty="0"/>
              </a:p>
              <a:p>
                <a:pPr>
                  <a:buNone/>
                </a:pPr>
                <a:r>
                  <a:rPr lang="en-US" b="1" dirty="0"/>
                  <a:t>Used for:</a:t>
                </a:r>
                <a:r>
                  <a:rPr lang="en-US" dirty="0"/>
                  <a:t> Cleaning and normalizing hyperspectral data</a:t>
                </a:r>
                <a:br>
                  <a:rPr lang="en-US" dirty="0"/>
                </a:br>
                <a:r>
                  <a:rPr lang="en-US" b="1" dirty="0"/>
                  <a:t>Purpose:</a:t>
                </a:r>
                <a:r>
                  <a:rPr lang="en-US" dirty="0"/>
                  <a:t> To improve data quality by removing noise and standardizing pixel values before processing </a:t>
                </a:r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r>
                  <a:rPr lang="en-US" b="1" dirty="0"/>
                  <a:t>Steps:</a:t>
                </a:r>
              </a:p>
              <a:p>
                <a:pPr>
                  <a:buNone/>
                </a:pPr>
                <a:r>
                  <a:rPr lang="en-US" b="1" dirty="0"/>
                  <a:t>Input:</a:t>
                </a:r>
                <a:r>
                  <a:rPr lang="en-US" dirty="0"/>
                  <a:t> Bi-temporal hyperspectral images (2015 &amp; 2018)</a:t>
                </a:r>
              </a:p>
              <a:p>
                <a:pPr>
                  <a:buNone/>
                </a:pPr>
                <a:r>
                  <a:rPr lang="en-US" b="1" dirty="0"/>
                  <a:t>ROI Selection:</a:t>
                </a:r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Extract Region of Interest to reduce computation </a:t>
                </a:r>
              </a:p>
              <a:p>
                <a:pPr>
                  <a:buNone/>
                </a:pPr>
                <a:r>
                  <a:rPr lang="en-US" b="1" dirty="0"/>
                  <a:t>Data Cleaning:</a:t>
                </a:r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Remove invalid values (</a:t>
                </a:r>
                <a:r>
                  <a:rPr lang="en-US" dirty="0" err="1"/>
                  <a:t>NaN</a:t>
                </a:r>
                <a:r>
                  <a:rPr lang="en-US" dirty="0"/>
                  <a:t>, infinity) </a:t>
                </a:r>
              </a:p>
              <a:p>
                <a:pPr>
                  <a:buNone/>
                </a:pPr>
                <a:r>
                  <a:rPr lang="en-US" b="1" dirty="0"/>
                  <a:t>Normalization:</a:t>
                </a:r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Scale pixel values to a common range </a:t>
                </a:r>
              </a:p>
              <a:p>
                <a:pPr>
                  <a:buNone/>
                </a:pPr>
                <a:r>
                  <a:rPr lang="en-US" dirty="0"/>
                  <a:t> </a:t>
                </a:r>
                <a:r>
                  <a:rPr lang="en-US" b="1" dirty="0"/>
                  <a:t>Formula (Normalization):</a:t>
                </a:r>
                <a:endParaRPr lang="en-US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𝑛𝑜𝑟𝑚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endParaRPr lang="en-US" b="1" dirty="0"/>
              </a:p>
              <a:p>
                <a:pPr>
                  <a:buNone/>
                </a:pPr>
                <a:r>
                  <a:rPr lang="en-US" b="1" dirty="0"/>
                  <a:t>Output:</a:t>
                </a:r>
                <a:r>
                  <a:rPr lang="en-US" dirty="0"/>
                  <a:t> Clean and normalized hyperspectral data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F0E83B-5542-718D-D014-98A2B9C069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1051408"/>
                <a:ext cx="11091672" cy="5089727"/>
              </a:xfrm>
              <a:prstGeom prst="rect">
                <a:avLst/>
              </a:prstGeom>
              <a:blipFill>
                <a:blip r:embed="rId2"/>
                <a:stretch>
                  <a:fillRect l="-440" t="-599" b="-9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1720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39A27-8CE5-9128-7D04-4E1178368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9;p23">
            <a:extLst>
              <a:ext uri="{FF2B5EF4-FFF2-40B4-BE49-F238E27FC236}">
                <a16:creationId xmlns:a16="http://schemas.microsoft.com/office/drawing/2014/main" id="{35CBADE4-F018-185B-8BAA-61A03197D718}"/>
              </a:ext>
            </a:extLst>
          </p:cNvPr>
          <p:cNvSpPr txBox="1"/>
          <p:nvPr/>
        </p:nvSpPr>
        <p:spPr>
          <a:xfrm>
            <a:off x="267036" y="122758"/>
            <a:ext cx="295144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Algorithms Used</a:t>
            </a:r>
            <a:endParaRPr sz="3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2328B67-E65D-CE8A-2997-A0D004F158D7}"/>
                  </a:ext>
                </a:extLst>
              </p:cNvPr>
              <p:cNvSpPr txBox="1"/>
              <p:nvPr/>
            </p:nvSpPr>
            <p:spPr>
              <a:xfrm>
                <a:off x="512064" y="987652"/>
                <a:ext cx="11786616" cy="56323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/>
                  <a:t>Siamese Deep Learning Algorithm</a:t>
                </a:r>
              </a:p>
              <a:p>
                <a:pPr>
                  <a:buNone/>
                </a:pPr>
                <a:endParaRPr lang="en-US" b="1" dirty="0"/>
              </a:p>
              <a:p>
                <a:pPr>
                  <a:buNone/>
                </a:pPr>
                <a:r>
                  <a:rPr lang="en-US" b="1" dirty="0"/>
                  <a:t>Used for:</a:t>
                </a:r>
                <a:r>
                  <a:rPr lang="en-US" dirty="0"/>
                  <a:t> Feature extraction from bi-temporal images</a:t>
                </a:r>
                <a:br>
                  <a:rPr lang="en-US" dirty="0"/>
                </a:br>
                <a:r>
                  <a:rPr lang="en-US" b="1" dirty="0"/>
                  <a:t>Purpose:</a:t>
                </a:r>
                <a:r>
                  <a:rPr lang="en-US" dirty="0"/>
                  <a:t> To learn spectral–spatial features from two time-based images using shared weights </a:t>
                </a:r>
              </a:p>
              <a:p>
                <a:pPr>
                  <a:buNone/>
                </a:pPr>
                <a:r>
                  <a:rPr lang="en-US" b="1" dirty="0"/>
                  <a:t>Steps:</a:t>
                </a:r>
              </a:p>
              <a:p>
                <a:pPr>
                  <a:buNone/>
                </a:pPr>
                <a:r>
                  <a:rPr lang="en-US" b="1" dirty="0"/>
                  <a:t>Input:</a:t>
                </a:r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Hyperspectral image at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ar-AE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Hyperspectral image at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ar-AE" dirty="0"/>
              </a:p>
              <a:p>
                <a:pPr>
                  <a:buNone/>
                </a:pPr>
                <a:r>
                  <a:rPr lang="en-US" b="1" dirty="0"/>
                  <a:t>Dual Network Processing:</a:t>
                </a:r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Two identical CNN branches process both images </a:t>
                </a:r>
              </a:p>
              <a:p>
                <a:pPr>
                  <a:buNone/>
                </a:pPr>
                <a:r>
                  <a:rPr lang="en-US" b="1" dirty="0"/>
                  <a:t>Feature Extraction:</a:t>
                </a:r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Extract spectral and spatial features </a:t>
                </a:r>
              </a:p>
              <a:p>
                <a:pPr>
                  <a:buNone/>
                </a:pPr>
                <a:r>
                  <a:rPr lang="en-US" dirty="0"/>
                  <a:t> </a:t>
                </a:r>
                <a:r>
                  <a:rPr lang="en-US" b="1" dirty="0"/>
                  <a:t>Formula (Feature Extraction):</a:t>
                </a:r>
                <a:endParaRPr lang="en-US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US" dirty="0"/>
                  <a:t>Where: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= feature extraction function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= shared weights </a:t>
                </a:r>
              </a:p>
              <a:p>
                <a:pPr>
                  <a:buNone/>
                </a:pPr>
                <a:r>
                  <a:rPr lang="en-US" b="1" dirty="0"/>
                  <a:t>Feature Comparison:</a:t>
                </a:r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Compare extracted features </a:t>
                </a:r>
              </a:p>
              <a:p>
                <a:pPr>
                  <a:buNone/>
                </a:pPr>
                <a:r>
                  <a:rPr lang="en-US" b="1" dirty="0"/>
                  <a:t>Output:</a:t>
                </a:r>
                <a:r>
                  <a:rPr lang="en-US" dirty="0"/>
                  <a:t> Deep feature vectors for change detection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2328B67-E65D-CE8A-2997-A0D004F158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064" y="987652"/>
                <a:ext cx="11786616" cy="5632311"/>
              </a:xfrm>
              <a:prstGeom prst="rect">
                <a:avLst/>
              </a:prstGeom>
              <a:blipFill>
                <a:blip r:embed="rId2"/>
                <a:stretch>
                  <a:fillRect l="-414" t="-541" b="-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3545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A5F76-4536-4FEF-26BA-3EB85AB06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9;p23">
            <a:extLst>
              <a:ext uri="{FF2B5EF4-FFF2-40B4-BE49-F238E27FC236}">
                <a16:creationId xmlns:a16="http://schemas.microsoft.com/office/drawing/2014/main" id="{91D6EA14-94A8-0E31-77E3-E097CE2537E6}"/>
              </a:ext>
            </a:extLst>
          </p:cNvPr>
          <p:cNvSpPr txBox="1"/>
          <p:nvPr/>
        </p:nvSpPr>
        <p:spPr>
          <a:xfrm>
            <a:off x="294468" y="77169"/>
            <a:ext cx="295144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Algorithms Used</a:t>
            </a:r>
            <a:endParaRPr sz="3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576E95-E9F5-7DB2-959A-47C936CC9D38}"/>
                  </a:ext>
                </a:extLst>
              </p:cNvPr>
              <p:cNvSpPr txBox="1"/>
              <p:nvPr/>
            </p:nvSpPr>
            <p:spPr>
              <a:xfrm>
                <a:off x="577932" y="684322"/>
                <a:ext cx="11446428" cy="61736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/>
                  <a:t>Change Vector Analysis (CVA) Algorithm</a:t>
                </a:r>
              </a:p>
              <a:p>
                <a:pPr>
                  <a:buNone/>
                </a:pPr>
                <a:endParaRPr lang="en-US" b="1" dirty="0"/>
              </a:p>
              <a:p>
                <a:pPr>
                  <a:buNone/>
                </a:pPr>
                <a:r>
                  <a:rPr lang="en-US" b="1" dirty="0"/>
                  <a:t>Used for:</a:t>
                </a:r>
                <a:r>
                  <a:rPr lang="en-US" dirty="0"/>
                  <a:t> Detecting changes between two images</a:t>
                </a:r>
                <a:br>
                  <a:rPr lang="en-US" dirty="0"/>
                </a:br>
                <a:r>
                  <a:rPr lang="en-US" b="1" dirty="0"/>
                  <a:t>Purpose:</a:t>
                </a:r>
                <a:r>
                  <a:rPr lang="en-US" dirty="0"/>
                  <a:t> To measure spectral differences between corresponding pixels </a:t>
                </a:r>
              </a:p>
              <a:p>
                <a:pPr>
                  <a:buNone/>
                </a:pPr>
                <a:r>
                  <a:rPr lang="en-US" b="1" dirty="0"/>
                  <a:t>Steps:</a:t>
                </a:r>
              </a:p>
              <a:p>
                <a:pPr>
                  <a:buNone/>
                </a:pPr>
                <a:r>
                  <a:rPr lang="en-US" b="1" dirty="0"/>
                  <a:t>Input:</a:t>
                </a:r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Feature vectors from two temporal images </a:t>
                </a:r>
              </a:p>
              <a:p>
                <a:pPr>
                  <a:buNone/>
                </a:pPr>
                <a:r>
                  <a:rPr lang="en-US" b="1" dirty="0"/>
                  <a:t>Difference Calculation:</a:t>
                </a:r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Compute spectral difference between pixels </a:t>
                </a:r>
              </a:p>
              <a:p>
                <a:pPr>
                  <a:buNone/>
                </a:pPr>
                <a:r>
                  <a:rPr lang="en-US" b="1" dirty="0"/>
                  <a:t>Magnitude Computation:</a:t>
                </a:r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Calculate change intensity </a:t>
                </a:r>
              </a:p>
              <a:p>
                <a:pPr>
                  <a:buNone/>
                </a:pPr>
                <a:r>
                  <a:rPr lang="en-US" b="1" dirty="0"/>
                  <a:t>Formula (CVA):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limLoc m:val="subSup"/>
                              <m:grow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nary>
                          <m:d>
                            <m:dPr>
                              <m:begChr m:val=""/>
                              <m:endChr m:val="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ar-AE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ar-AE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"/>
                                      <m:endChr m:val="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i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ar-AE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rad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US" dirty="0"/>
                  <a:t>Where: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ar-AE" dirty="0"/>
                  <a:t>= </a:t>
                </a:r>
                <a:r>
                  <a:rPr lang="en-US" dirty="0"/>
                  <a:t>spectral values at different times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= number of spectral bands </a:t>
                </a:r>
              </a:p>
              <a:p>
                <a:pPr>
                  <a:buNone/>
                </a:pPr>
                <a:r>
                  <a:rPr lang="en-US" b="1" dirty="0"/>
                  <a:t>Interpretation:</a:t>
                </a:r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High value → Change detected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Low value → No change </a:t>
                </a:r>
              </a:p>
              <a:p>
                <a:pPr>
                  <a:buNone/>
                </a:pPr>
                <a:r>
                  <a:rPr lang="en-US" b="1" dirty="0"/>
                  <a:t>Output:</a:t>
                </a:r>
                <a:r>
                  <a:rPr lang="en-US" dirty="0"/>
                  <a:t> Change map highlighting altered regions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576E95-E9F5-7DB2-959A-47C936CC9D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932" y="684322"/>
                <a:ext cx="11446428" cy="6173678"/>
              </a:xfrm>
              <a:prstGeom prst="rect">
                <a:avLst/>
              </a:prstGeom>
              <a:blipFill>
                <a:blip r:embed="rId2"/>
                <a:stretch>
                  <a:fillRect l="-479" t="-494" b="-5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56511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A25471-8F22-B80A-B29A-62995D9A3B17}"/>
              </a:ext>
            </a:extLst>
          </p:cNvPr>
          <p:cNvSpPr txBox="1"/>
          <p:nvPr/>
        </p:nvSpPr>
        <p:spPr>
          <a:xfrm>
            <a:off x="4233557" y="88608"/>
            <a:ext cx="39549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D23174-4A40-54CA-37C9-94D05FBB1B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76" y="893374"/>
            <a:ext cx="11033760" cy="58760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400589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549D18-14E7-40B6-6FF2-A77B95641BDF}"/>
              </a:ext>
            </a:extLst>
          </p:cNvPr>
          <p:cNvSpPr txBox="1"/>
          <p:nvPr/>
        </p:nvSpPr>
        <p:spPr>
          <a:xfrm>
            <a:off x="4985938" y="297261"/>
            <a:ext cx="19607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D70FE4-D7BC-D4CA-703C-E438267CF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89914"/>
            <a:ext cx="7187184" cy="51299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0A3C43C-5897-03C1-1920-258D01660A3E}"/>
              </a:ext>
            </a:extLst>
          </p:cNvPr>
          <p:cNvSpPr txBox="1"/>
          <p:nvPr/>
        </p:nvSpPr>
        <p:spPr>
          <a:xfrm>
            <a:off x="3048762" y="6307863"/>
            <a:ext cx="6094476" cy="36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lnSpc>
                <a:spcPct val="107000"/>
              </a:lnSpc>
              <a:buNone/>
            </a:pPr>
            <a:r>
              <a:rPr lang="en-US" sz="1800" b="1" i="1" dirty="0">
                <a:effectLst/>
                <a:latin typeface="Times New Roman" panose="02020603050405020304" pitchFamily="18" charset="0"/>
                <a:ea typeface="Batang" panose="02030600000101010101" pitchFamily="18" charset="-127"/>
              </a:rPr>
              <a:t>Output of Siamese CNN Model</a:t>
            </a:r>
            <a:endParaRPr lang="en-US" sz="1600" dirty="0">
              <a:effectLst/>
              <a:latin typeface="Times New Roman" panose="02020603050405020304" pitchFamily="18" charset="0"/>
              <a:ea typeface="Batang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1094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58BBC-4440-1A40-20B1-11765C26C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942DE2-11E5-4BE8-5F22-12EADC9E9EAD}"/>
              </a:ext>
            </a:extLst>
          </p:cNvPr>
          <p:cNvSpPr txBox="1"/>
          <p:nvPr/>
        </p:nvSpPr>
        <p:spPr>
          <a:xfrm>
            <a:off x="4985938" y="297261"/>
            <a:ext cx="19607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265F1E4-9B6D-412F-B43D-10E45FC527B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6711" y="1974663"/>
            <a:ext cx="8190141" cy="188531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18D0422-91C0-D274-D8EB-A8A04C9A93F9}"/>
              </a:ext>
            </a:extLst>
          </p:cNvPr>
          <p:cNvSpPr txBox="1"/>
          <p:nvPr/>
        </p:nvSpPr>
        <p:spPr>
          <a:xfrm>
            <a:off x="3467736" y="4645213"/>
            <a:ext cx="6094476" cy="307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lnSpc>
                <a:spcPct val="107000"/>
              </a:lnSpc>
              <a:buNone/>
            </a:pPr>
            <a:r>
              <a:rPr lang="en-US" sz="1400" b="1" i="1" dirty="0">
                <a:effectLst/>
                <a:latin typeface="Times New Roman" panose="02020603050405020304" pitchFamily="18" charset="0"/>
                <a:ea typeface="Batang" panose="02030600000101010101" pitchFamily="18" charset="-127"/>
              </a:rPr>
              <a:t>Graphs of Validation, Training loss, validation Accuracy Curves.</a:t>
            </a:r>
            <a:endParaRPr lang="en-US" sz="1400" dirty="0">
              <a:effectLst/>
              <a:latin typeface="Times New Roman" panose="02020603050405020304" pitchFamily="18" charset="0"/>
              <a:ea typeface="Batang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75957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C6C0B-2FDD-AF12-6E7B-20CC31779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2E9F36-D932-9540-2136-028CF3440FB8}"/>
              </a:ext>
            </a:extLst>
          </p:cNvPr>
          <p:cNvSpPr txBox="1"/>
          <p:nvPr/>
        </p:nvSpPr>
        <p:spPr>
          <a:xfrm>
            <a:off x="4985938" y="297261"/>
            <a:ext cx="19607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83092F-A0C6-A0A9-8B5A-3BA22B9FA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352" y="1296860"/>
            <a:ext cx="4907280" cy="33864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16C5E6-67C2-F28D-106B-0E7ED0BC1E46}"/>
              </a:ext>
            </a:extLst>
          </p:cNvPr>
          <p:cNvSpPr txBox="1"/>
          <p:nvPr/>
        </p:nvSpPr>
        <p:spPr>
          <a:xfrm>
            <a:off x="2984754" y="5006699"/>
            <a:ext cx="6094476" cy="36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lnSpc>
                <a:spcPct val="107000"/>
              </a:lnSpc>
              <a:buNone/>
            </a:pPr>
            <a:r>
              <a:rPr lang="en-US" sz="1800" b="1" i="1" dirty="0">
                <a:effectLst/>
                <a:latin typeface="Times New Roman" panose="02020603050405020304" pitchFamily="18" charset="0"/>
                <a:ea typeface="Batang" panose="02030600000101010101" pitchFamily="18" charset="-127"/>
              </a:rPr>
              <a:t>Graph of ROC Curve.</a:t>
            </a:r>
            <a:endParaRPr lang="en-US" sz="1600" dirty="0">
              <a:effectLst/>
              <a:latin typeface="Times New Roman" panose="02020603050405020304" pitchFamily="18" charset="0"/>
              <a:ea typeface="Batang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7908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3074A-7E44-74CB-5408-15C01EA5D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9CC199F-2892-FEB5-ABC3-C1B8CCF94039}"/>
              </a:ext>
            </a:extLst>
          </p:cNvPr>
          <p:cNvSpPr txBox="1"/>
          <p:nvPr/>
        </p:nvSpPr>
        <p:spPr>
          <a:xfrm>
            <a:off x="4985938" y="297261"/>
            <a:ext cx="19607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3CAE03-DF90-F052-3174-4EF5EA764D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082" y="1889098"/>
            <a:ext cx="5253355" cy="27876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CD55D7-86F2-747D-69A8-A4FA6FBE7359}"/>
              </a:ext>
            </a:extLst>
          </p:cNvPr>
          <p:cNvSpPr txBox="1"/>
          <p:nvPr/>
        </p:nvSpPr>
        <p:spPr>
          <a:xfrm>
            <a:off x="108966" y="4968902"/>
            <a:ext cx="6094476" cy="36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lnSpc>
                <a:spcPct val="107000"/>
              </a:lnSpc>
              <a:buNone/>
            </a:pPr>
            <a:r>
              <a:rPr lang="en-US" sz="1800" b="1" i="1" dirty="0">
                <a:effectLst/>
                <a:latin typeface="Times New Roman" panose="02020603050405020304" pitchFamily="18" charset="0"/>
                <a:ea typeface="Batang" panose="02030600000101010101" pitchFamily="18" charset="-127"/>
              </a:rPr>
              <a:t>Graph of Precision Recall Curve.</a:t>
            </a:r>
            <a:endParaRPr lang="en-US" sz="1600" dirty="0">
              <a:effectLst/>
              <a:latin typeface="Times New Roman" panose="02020603050405020304" pitchFamily="18" charset="0"/>
              <a:ea typeface="Batang" panose="02030600000101010101" pitchFamily="18" charset="-127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2C7315-F162-6C98-FCCE-C56C7F2A9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082" y="1966885"/>
            <a:ext cx="4869180" cy="26320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25F6847-4710-BF9C-7D1C-796891802980}"/>
              </a:ext>
            </a:extLst>
          </p:cNvPr>
          <p:cNvSpPr txBox="1"/>
          <p:nvPr/>
        </p:nvSpPr>
        <p:spPr>
          <a:xfrm>
            <a:off x="6203442" y="4968902"/>
            <a:ext cx="6094476" cy="36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lnSpc>
                <a:spcPct val="107000"/>
              </a:lnSpc>
              <a:buNone/>
            </a:pPr>
            <a:r>
              <a:rPr lang="en-US" sz="1800" b="1" i="1" dirty="0">
                <a:effectLst/>
                <a:latin typeface="Times New Roman" panose="02020603050405020304" pitchFamily="18" charset="0"/>
                <a:ea typeface="Batang" panose="02030600000101010101" pitchFamily="18" charset="-127"/>
              </a:rPr>
              <a:t>Graph of Precision Recall Curve.</a:t>
            </a:r>
            <a:endParaRPr lang="en-US" sz="1600" dirty="0">
              <a:effectLst/>
              <a:latin typeface="Times New Roman" panose="02020603050405020304" pitchFamily="18" charset="0"/>
              <a:ea typeface="Batang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319365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83686-B7D5-FE56-37E2-C2C6E624C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5EE671-BDFD-A192-09E8-E381DEAF0590}"/>
              </a:ext>
            </a:extLst>
          </p:cNvPr>
          <p:cNvSpPr txBox="1"/>
          <p:nvPr/>
        </p:nvSpPr>
        <p:spPr>
          <a:xfrm>
            <a:off x="4985938" y="297261"/>
            <a:ext cx="19607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4120966-4238-607D-1EBD-C0E0E9F9FF8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706" y="1584198"/>
            <a:ext cx="4678680" cy="23545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70566E-6652-3A91-B6EF-2255E6516A28}"/>
              </a:ext>
            </a:extLst>
          </p:cNvPr>
          <p:cNvSpPr txBox="1"/>
          <p:nvPr/>
        </p:nvSpPr>
        <p:spPr>
          <a:xfrm>
            <a:off x="-12192" y="4285161"/>
            <a:ext cx="6094476" cy="307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lnSpc>
                <a:spcPct val="107000"/>
              </a:lnSpc>
              <a:buNone/>
            </a:pPr>
            <a:r>
              <a:rPr lang="en-US" sz="1400" b="1" i="1" dirty="0">
                <a:effectLst/>
                <a:latin typeface="Times New Roman" panose="02020603050405020304" pitchFamily="18" charset="0"/>
                <a:ea typeface="Batang" panose="02030600000101010101" pitchFamily="18" charset="-127"/>
              </a:rPr>
              <a:t>Spectral signature comparison using reflectance and band index.</a:t>
            </a:r>
            <a:endParaRPr lang="en-US" sz="1400" dirty="0">
              <a:effectLst/>
              <a:latin typeface="Times New Roman" panose="02020603050405020304" pitchFamily="18" charset="0"/>
              <a:ea typeface="Batang" panose="02030600000101010101" pitchFamily="18" charset="-127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F87604-304F-CC17-A097-6BC2411E83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544" y="1674050"/>
            <a:ext cx="4476750" cy="21748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732BA92-0338-FE60-48EB-013774865723}"/>
              </a:ext>
            </a:extLst>
          </p:cNvPr>
          <p:cNvSpPr txBox="1"/>
          <p:nvPr/>
        </p:nvSpPr>
        <p:spPr>
          <a:xfrm>
            <a:off x="6322950" y="4215719"/>
            <a:ext cx="6099048" cy="376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lnSpc>
                <a:spcPct val="150000"/>
              </a:lnSpc>
              <a:buNone/>
              <a:tabLst>
                <a:tab pos="304800" algn="l"/>
                <a:tab pos="457200" algn="l"/>
              </a:tabLst>
            </a:pPr>
            <a:r>
              <a:rPr lang="en-US" sz="1400" b="1" i="1" dirty="0">
                <a:effectLst/>
                <a:latin typeface="Times New Roman" panose="02020603050405020304" pitchFamily="18" charset="0"/>
                <a:ea typeface="Batang" panose="02030600000101010101" pitchFamily="18" charset="-127"/>
              </a:rPr>
              <a:t>Correlation scatter plot.</a:t>
            </a:r>
            <a:endParaRPr lang="en-US" sz="1400" dirty="0">
              <a:effectLst/>
              <a:latin typeface="Times New Roman" panose="02020603050405020304" pitchFamily="18" charset="0"/>
              <a:ea typeface="Batang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97904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52B63-CB8D-9B9D-3215-779461C8D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E45377D-A818-943E-2816-916A78F8910A}"/>
              </a:ext>
            </a:extLst>
          </p:cNvPr>
          <p:cNvSpPr txBox="1"/>
          <p:nvPr/>
        </p:nvSpPr>
        <p:spPr>
          <a:xfrm>
            <a:off x="4985938" y="297261"/>
            <a:ext cx="19607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4744E6-4577-77E1-2D4C-7B5F711E0A2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557" y="2028190"/>
            <a:ext cx="4552950" cy="2070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DC3B97-9B70-3B09-3BA1-07C460014CA7}"/>
              </a:ext>
            </a:extLst>
          </p:cNvPr>
          <p:cNvSpPr txBox="1"/>
          <p:nvPr/>
        </p:nvSpPr>
        <p:spPr>
          <a:xfrm>
            <a:off x="1524" y="4768956"/>
            <a:ext cx="6094476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lnSpc>
                <a:spcPct val="150000"/>
              </a:lnSpc>
              <a:buNone/>
              <a:tabLst>
                <a:tab pos="304800" algn="l"/>
                <a:tab pos="457200" algn="l"/>
              </a:tabLst>
            </a:pPr>
            <a:r>
              <a:rPr lang="en-US" sz="1800" b="1" i="1" dirty="0">
                <a:effectLst/>
                <a:latin typeface="Times New Roman" panose="02020603050405020304" pitchFamily="18" charset="0"/>
                <a:ea typeface="Batang" panose="02030600000101010101" pitchFamily="18" charset="-127"/>
              </a:rPr>
              <a:t>Band Wise Correlation plot.</a:t>
            </a:r>
            <a:endParaRPr lang="en-US" sz="1600" dirty="0">
              <a:effectLst/>
              <a:latin typeface="Times New Roman" panose="02020603050405020304" pitchFamily="18" charset="0"/>
              <a:ea typeface="Batang" panose="02030600000101010101" pitchFamily="18" charset="-127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C63128C-6B51-ADB2-26DE-59A3C40D2D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4720466"/>
              </p:ext>
            </p:extLst>
          </p:nvPr>
        </p:nvGraphicFramePr>
        <p:xfrm>
          <a:off x="6414390" y="1842703"/>
          <a:ext cx="4960746" cy="280137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80373">
                  <a:extLst>
                    <a:ext uri="{9D8B030D-6E8A-4147-A177-3AD203B41FA5}">
                      <a16:colId xmlns:a16="http://schemas.microsoft.com/office/drawing/2014/main" val="3151947434"/>
                    </a:ext>
                  </a:extLst>
                </a:gridCol>
                <a:gridCol w="2480373">
                  <a:extLst>
                    <a:ext uri="{9D8B030D-6E8A-4147-A177-3AD203B41FA5}">
                      <a16:colId xmlns:a16="http://schemas.microsoft.com/office/drawing/2014/main" val="35092495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944245" indent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Metric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944245" indent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Value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63587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944245" indent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Overall Accuracy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944245" indent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78.87%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6238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944245" indent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Balanced Accuracy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944245" indent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87.57%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54612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944245" indent="0">
                        <a:lnSpc>
                          <a:spcPct val="107000"/>
                        </a:lnSpc>
                        <a:buNone/>
                      </a:pPr>
                      <a:r>
                        <a:rPr lang="en-US" sz="1200" dirty="0">
                          <a:effectLst/>
                        </a:rPr>
                        <a:t>Precision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944245" indent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0.0437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1690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944245" indent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Recall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944245" indent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0.9645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57848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944245" indent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F1-score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944245" indent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0.0836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508959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944245" indent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MCC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944245" indent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0.1803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16392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944245" indent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IoU (Jaccard)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944245" indent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0.0436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16921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944245" indent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Dice Similarity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944245" indent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0.0836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8951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944245" indent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AUC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944245" indent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0.9339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90805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944245" indent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Average Precision (AP)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944245" indent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0.2170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57987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944245" indent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Correlation (Band 50)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944245" indent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0.0933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12628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944245" indent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Changed Pixels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944245" indent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68,965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76455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944245" indent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Changed Area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944245" indent="0">
                        <a:lnSpc>
                          <a:spcPct val="107000"/>
                        </a:lnSpc>
                        <a:buNone/>
                      </a:pPr>
                      <a:r>
                        <a:rPr lang="en-US" sz="1200" dirty="0">
                          <a:effectLst/>
                        </a:rPr>
                        <a:t>22.06%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3604246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11855492-B78A-6879-C43A-5225EA2CAB17}"/>
              </a:ext>
            </a:extLst>
          </p:cNvPr>
          <p:cNvSpPr txBox="1"/>
          <p:nvPr/>
        </p:nvSpPr>
        <p:spPr>
          <a:xfrm>
            <a:off x="7381494" y="4882399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latin typeface="Times New Roman" panose="02020603050405020304" pitchFamily="18" charset="0"/>
                <a:ea typeface="Batang" panose="02030600000101010101" pitchFamily="18" charset="-127"/>
              </a:rPr>
              <a:t>PERFORMANCE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8518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82;p27">
            <a:extLst>
              <a:ext uri="{FF2B5EF4-FFF2-40B4-BE49-F238E27FC236}">
                <a16:creationId xmlns:a16="http://schemas.microsoft.com/office/drawing/2014/main" id="{0D73BE70-E01B-7C91-D607-05C1ADFAB629}"/>
              </a:ext>
            </a:extLst>
          </p:cNvPr>
          <p:cNvSpPr txBox="1"/>
          <p:nvPr/>
        </p:nvSpPr>
        <p:spPr>
          <a:xfrm>
            <a:off x="249709" y="218114"/>
            <a:ext cx="197470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3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83;p27">
            <a:extLst>
              <a:ext uri="{FF2B5EF4-FFF2-40B4-BE49-F238E27FC236}">
                <a16:creationId xmlns:a16="http://schemas.microsoft.com/office/drawing/2014/main" id="{FD4947C8-3B7C-8770-DE50-8E4EEF7FFB2D}"/>
              </a:ext>
            </a:extLst>
          </p:cNvPr>
          <p:cNvSpPr txBox="1"/>
          <p:nvPr/>
        </p:nvSpPr>
        <p:spPr>
          <a:xfrm>
            <a:off x="249709" y="1156583"/>
            <a:ext cx="11771716" cy="3816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 K. Roy, A. Deria, D. Hong, B. Rasti, A. Plaza and J. Chanussot, "Multimodal Fusion Transformer for Remote Sensing Image          Classification," in IEEE Transactions on Geoscience and Remote Sensing, vol. 61, pp. 1-20, 2023, Art no. 5515620, doi: 10.1109/TGRS.2023.3286826.</a:t>
            </a:r>
            <a:endParaRPr/>
          </a:p>
          <a:p>
            <a:pPr marL="457200" marR="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Mengru Ma, Wenping Ma, Licheng Jiao ∗ , Xu Liu, Lingling Li,” A multimodal hyper-fusion transformer for remote sensing image classification ”, ISSN 1566-2535,https://doi.org/10.1016/j.inffus.2023.03.005.</a:t>
            </a:r>
            <a:endParaRPr/>
          </a:p>
          <a:p>
            <a:pPr marL="457200" marR="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Chen, X., Li, D., Liu, M., &amp; Jia, J. (2023). CNN and Transformer Fusion for Remote Sensing Image Semantic Segmentation. </a:t>
            </a:r>
            <a:r>
              <a:rPr lang="en-US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Remote Sensing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 </a:t>
            </a:r>
            <a:r>
              <a:rPr lang="en-US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(18), 4455. https://doi.org/10.3390/rs15184455</a:t>
            </a:r>
            <a:endParaRPr/>
          </a:p>
          <a:p>
            <a:pPr marL="457200" marR="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2771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956</TotalTime>
  <Words>1273</Words>
  <Application>Microsoft Office PowerPoint</Application>
  <PresentationFormat>Widescreen</PresentationFormat>
  <Paragraphs>214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AngsanaUPC</vt:lpstr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saikumar kolli</dc:creator>
  <cp:lastModifiedBy>saikumar kolli</cp:lastModifiedBy>
  <cp:revision>72</cp:revision>
  <dcterms:created xsi:type="dcterms:W3CDTF">2026-03-03T15:40:35Z</dcterms:created>
  <dcterms:modified xsi:type="dcterms:W3CDTF">2026-04-16T09:21:35Z</dcterms:modified>
</cp:coreProperties>
</file>